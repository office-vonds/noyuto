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4114800"/>
            <a:ext cx="4572000" cy="45720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あなたの人生を変える、たった一つの選択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200400"/>
            <a:ext cx="54864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D4AF37"/>
                </a:solidFill>
              </a:defRPr>
            </a:pPr>
            <a:r>
              <a:t>RIWAY Business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</a:defRPr>
            </a:pPr>
            <a:r>
              <a:t>Confidential | For Invited Guests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日本人の2人に1人が、がんになる時代。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47472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</a:defRPr>
            </a:pPr>
            <a:r>
              <a:t>あなたの健康対策は、本当に十分ですか？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54864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5486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知っていますか？この現実を。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91640" y="2331720"/>
            <a:ext cx="2926080" cy="29260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20" y="2286000"/>
            <a:ext cx="2926080" cy="29260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1645920" y="2286000"/>
            <a:ext cx="29260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7432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37"/>
                </a:solidFill>
              </a:defRPr>
            </a:pPr>
            <a:r>
              <a:t>男性9年・奣12年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</a:defRPr>
            </a:pPr>
            <a:r>
              <a:t>平均寿命と健康寿命の差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6360" y="2331720"/>
            <a:ext cx="2926080" cy="29260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0" y="2286000"/>
            <a:ext cx="2926080" cy="29260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5120640" y="2286000"/>
            <a:ext cx="29260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27432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37"/>
                </a:solidFill>
              </a:defRPr>
            </a:pPr>
            <a:r>
              <a:t>約2,800万円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</a:defRPr>
            </a:pPr>
            <a:r>
              <a:t>生涯医療費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331720"/>
            <a:ext cx="2926080" cy="29260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0" y="2286000"/>
            <a:ext cx="2926080" cy="29260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8595360" y="2286000"/>
            <a:ext cx="29260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D4AF37"/>
                </a:solidFill>
              </a:defRPr>
            </a:pPr>
            <a:r>
              <a:t>わずか3%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1148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</a:defRPr>
            </a:pPr>
            <a:r>
              <a:t>退職後の収入源を持つ人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54864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5486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現代人が抱える「2つの不安」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2148840"/>
            <a:ext cx="4572000" cy="38404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103120"/>
            <a:ext cx="4572000" cy="38404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サプリは多すぎて選べない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高額な健康法は続かない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何が本物かわからない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10312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D4AF37"/>
                </a:solidFill>
              </a:defRPr>
            </a:pPr>
            <a:r>
              <a:t>健康の不安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2148840"/>
            <a:ext cx="4572000" cy="38404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103120"/>
            <a:ext cx="4572000" cy="38404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給料は上がらず物価は上がる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年金だけでは不安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副業したいが時間がない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0312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3774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D4AF37"/>
                </a:solidFill>
              </a:defRPr>
            </a:pPr>
            <a:r>
              <a:t>経済の不安</a:t>
            </a:r>
          </a:p>
        </p:txBody>
      </p:sp>
      <p:sp>
        <p:nvSpPr>
          <p:cNvPr id="15" name="Diamond 14"/>
          <p:cNvSpPr/>
          <p:nvPr/>
        </p:nvSpPr>
        <p:spPr>
          <a:xfrm>
            <a:off x="1737360" y="32918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6766560" y="32918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737360" y="388620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6766560" y="388620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1737360" y="448056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6766560" y="448056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54864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5486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なぜ、普通の選択肢では解決できないのか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37160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6040" y="2331720"/>
            <a:ext cx="7772400" cy="10972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0" y="2286000"/>
            <a:ext cx="7772400" cy="10972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400">
                <a:solidFill>
                  <a:srgbClr val="E8E8E8"/>
                </a:solidFill>
              </a:defRPr>
            </a:pPr>
            <a:r>
              <a:t>時間の壁：忙しくて健康管理ができない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286000"/>
            <a:ext cx="77724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2468880"/>
            <a:ext cx="548640" cy="5486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600" b="1">
                <a:solidFill>
                  <a:srgbClr val="0D1B2A"/>
                </a:solidFill>
              </a:defRPr>
            </a:pPr>
            <a: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3703320"/>
            <a:ext cx="7772400" cy="10972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0" y="3657600"/>
            <a:ext cx="7772400" cy="10972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400">
                <a:solidFill>
                  <a:srgbClr val="E8E8E8"/>
                </a:solidFill>
              </a:defRPr>
            </a:pPr>
            <a:r>
              <a:t>コストの壁：良いものほど高額で続かない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3657600"/>
            <a:ext cx="77724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28800" y="3840480"/>
            <a:ext cx="548640" cy="5486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600" b="1">
                <a:solidFill>
                  <a:srgbClr val="0D1B2A"/>
                </a:solidFill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5074920"/>
            <a:ext cx="7772400" cy="109728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0" y="5029200"/>
            <a:ext cx="7772400" cy="109728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400">
                <a:solidFill>
                  <a:srgbClr val="E8E8E8"/>
                </a:solidFill>
              </a:defRPr>
            </a:pPr>
            <a:r>
              <a:t>情報の壁：何が本物かわからない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5029200"/>
            <a:ext cx="77724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28800" y="5212080"/>
            <a:ext cx="548640" cy="5486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600" b="1">
                <a:solidFill>
                  <a:srgbClr val="0D1B2A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4572000"/>
            <a:ext cx="3657600" cy="36576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</a:defRPr>
            </a:pPr>
            <a:r>
              <a:t>もし「健康」と「収入」を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0040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F37"/>
                </a:solidFill>
              </a:defRPr>
            </a:pPr>
            <a:r>
              <a:t>同時に手に入れる方法があるとしたら？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RIWAY とは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828800" y="19202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2008年シンガポール設立</a:t>
            </a:r>
          </a:p>
        </p:txBody>
      </p:sp>
      <p:sp>
        <p:nvSpPr>
          <p:cNvPr id="9" name="Diamond 8"/>
          <p:cNvSpPr/>
          <p:nvPr/>
        </p:nvSpPr>
        <p:spPr>
          <a:xfrm>
            <a:off x="1828800" y="28346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アジア15カ国以上に展開</a:t>
            </a:r>
          </a:p>
        </p:txBody>
      </p:sp>
      <p:sp>
        <p:nvSpPr>
          <p:cNvPr id="11" name="Diamond 10"/>
          <p:cNvSpPr/>
          <p:nvPr/>
        </p:nvSpPr>
        <p:spPr>
          <a:xfrm>
            <a:off x="1828800" y="37490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ブランドメッセージ「Live Young」</a:t>
            </a:r>
          </a:p>
        </p:txBody>
      </p:sp>
      <p:sp>
        <p:nvSpPr>
          <p:cNvPr id="13" name="Diamond 12"/>
          <p:cNvSpPr/>
          <p:nvPr/>
        </p:nvSpPr>
        <p:spPr>
          <a:xfrm>
            <a:off x="1828800" y="46634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唯一無二の製品力で急成長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-1371600"/>
            <a:ext cx="3657600" cy="36576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RIWAY の信頼性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1828800" y="19202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ニュージーランド自社工場</a:t>
            </a:r>
          </a:p>
        </p:txBody>
      </p:sp>
      <p:sp>
        <p:nvSpPr>
          <p:cNvPr id="10" name="Diamond 9"/>
          <p:cNvSpPr/>
          <p:nvPr/>
        </p:nvSpPr>
        <p:spPr>
          <a:xfrm>
            <a:off x="1828800" y="274320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2651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GMP認証取得</a:t>
            </a:r>
          </a:p>
        </p:txBody>
      </p:sp>
      <p:sp>
        <p:nvSpPr>
          <p:cNvPr id="12" name="Diamond 11"/>
          <p:cNvSpPr/>
          <p:nvPr/>
        </p:nvSpPr>
        <p:spPr>
          <a:xfrm>
            <a:off x="1828800" y="356616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474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世界各国の政府認可</a:t>
            </a:r>
          </a:p>
        </p:txBody>
      </p:sp>
      <p:sp>
        <p:nvSpPr>
          <p:cNvPr id="14" name="Diamond 13"/>
          <p:cNvSpPr/>
          <p:nvPr/>
        </p:nvSpPr>
        <p:spPr>
          <a:xfrm>
            <a:off x="1828800" y="438912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15年以上の実績</a:t>
            </a:r>
          </a:p>
        </p:txBody>
      </p:sp>
      <p:sp>
        <p:nvSpPr>
          <p:cNvPr id="16" name="Diamond 15"/>
          <p:cNvSpPr/>
          <p:nvPr/>
        </p:nvSpPr>
        <p:spPr>
          <a:xfrm>
            <a:off x="1828800" y="521208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日本法人設立済み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受賞・メディア実績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1828800" y="19202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アジア太平洋トップ企業賞受賞</a:t>
            </a:r>
          </a:p>
        </p:txBody>
      </p:sp>
      <p:sp>
        <p:nvSpPr>
          <p:cNvPr id="9" name="Diamond 8"/>
          <p:cNvSpPr/>
          <p:nvPr/>
        </p:nvSpPr>
        <p:spPr>
          <a:xfrm>
            <a:off x="1828800" y="28346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各種ビジネスアワード多数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28800" y="37490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世界15カ国以上で政府認可</a:t>
            </a:r>
          </a:p>
        </p:txBody>
      </p:sp>
      <p:sp>
        <p:nvSpPr>
          <p:cNvPr id="13" name="Diamond 12"/>
          <p:cNvSpPr/>
          <p:nvPr/>
        </p:nvSpPr>
        <p:spPr>
          <a:xfrm>
            <a:off x="1828800" y="46634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累計販売実績 数百万箱突破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0" y="3200400"/>
            <a:ext cx="4572000" cy="45720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7315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PURTIER PLACENTA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459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4AF37"/>
                </a:solidFill>
              </a:defRPr>
            </a:pPr>
            <a:r>
              <a:t>世界唯一の「生きた細胞」カプセル技術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286000"/>
            <a:ext cx="73152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1645920" y="28346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743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ニュージーランド産 鹿プラセンタ使用</a:t>
            </a:r>
          </a:p>
        </p:txBody>
      </p:sp>
      <p:sp>
        <p:nvSpPr>
          <p:cNvPr id="10" name="Diamond 9"/>
          <p:cNvSpPr/>
          <p:nvPr/>
        </p:nvSpPr>
        <p:spPr>
          <a:xfrm>
            <a:off x="1645920" y="365760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3566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特許技術による生細胞カプセル化</a:t>
            </a:r>
          </a:p>
        </p:txBody>
      </p:sp>
      <p:sp>
        <p:nvSpPr>
          <p:cNvPr id="12" name="Diamond 11"/>
          <p:cNvSpPr/>
          <p:nvPr/>
        </p:nvSpPr>
        <p:spPr>
          <a:xfrm>
            <a:off x="1645920" y="448056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4389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9つの厳選された天然成分を配合</a:t>
            </a:r>
          </a:p>
        </p:txBody>
      </p:sp>
      <p:sp>
        <p:nvSpPr>
          <p:cNvPr id="14" name="Diamond 13"/>
          <p:cNvSpPr/>
          <p:nvPr/>
        </p:nvSpPr>
        <p:spPr>
          <a:xfrm>
            <a:off x="1645920" y="530352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212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8E8"/>
                </a:solidFill>
              </a:defRPr>
            </a:pPr>
            <a:r>
              <a:t>1箱60カプセル（1ヶ月分）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PURTIER の主要成分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187452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鹿プラセンタエキス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82880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1645920" y="210312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17320" y="283464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1600" y="278892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海洋コラーゲンペプチド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78892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645920" y="30632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17320" y="379476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" y="374904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大豆イソフラボン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374904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645920" y="402336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5488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470916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アロエベラエキス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470916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645920" y="498348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187452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82880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マリンコラーゲン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82880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6675120" y="210312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3464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278892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ボラージオイル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78892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675120" y="306324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79476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374904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アビジン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74904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6675120" y="402336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75488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470916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リコピン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70916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6675120" y="498348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46520" y="5715000"/>
            <a:ext cx="4572000" cy="7315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0" y="5669280"/>
            <a:ext cx="4572000" cy="7315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>
                <a:solidFill>
                  <a:srgbClr val="E8E8E8"/>
                </a:solidFill>
              </a:defRPr>
            </a:pPr>
            <a:r>
              <a:t>ルテイン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669280"/>
            <a:ext cx="45720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6675120" y="5943600"/>
            <a:ext cx="137160" cy="137160"/>
          </a:xfrm>
          <a:prstGeom prst="diamond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愛用者の声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1874520"/>
            <a:ext cx="3108960" cy="34747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3108960" cy="34747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  <a:r>
              <a:t>「3ヶ月で肌のハリが戻り、</a:t>
            </a:r>
            <a:br/>
            <a:r>
              <a:t>周りから若返ったと</a:t>
            </a:r>
            <a:br/>
            <a:r>
              <a:t>言われます」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828800"/>
            <a:ext cx="310896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4AF37"/>
                </a:solidFill>
              </a:defRPr>
            </a:pPr>
            <a:r>
              <a:t>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68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F37"/>
                </a:solidFill>
              </a:defRPr>
            </a:pPr>
            <a:r>
              <a:t>50代女性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83480" y="1874520"/>
            <a:ext cx="3108960" cy="34747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37760" y="1828800"/>
            <a:ext cx="3108960" cy="34747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  <a:r>
              <a:t>「毎朝の目覚めが劇的に</a:t>
            </a:r>
            <a:br/>
            <a:r>
              <a:t>変わりました。ゴルフの</a:t>
            </a:r>
            <a:br/>
            <a:r>
              <a:t>スコアも改善」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1828800"/>
            <a:ext cx="310896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0116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4AF37"/>
                </a:solidFill>
              </a:defRPr>
            </a:pPr>
            <a:r>
              <a:t>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68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F37"/>
                </a:solidFill>
              </a:defRPr>
            </a:pPr>
            <a:r>
              <a:t>60代男性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1874520"/>
            <a:ext cx="3108960" cy="347472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03920" y="1828800"/>
            <a:ext cx="3108960" cy="347472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</a:p>
          <a:p>
            <a:pPr algn="ctr">
              <a:spcAft>
                <a:spcPts val="400"/>
              </a:spcAft>
              <a:defRPr sz="1600">
                <a:solidFill>
                  <a:srgbClr val="E8E8E8"/>
                </a:solidFill>
              </a:defRPr>
            </a:pPr>
            <a:r>
              <a:t>「疲れにくくなり、仕事と</a:t>
            </a:r>
            <a:br/>
            <a:r>
              <a:t>育児の両立が楽に</a:t>
            </a:r>
            <a:br/>
            <a:r>
              <a:t>なりました」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1828800"/>
            <a:ext cx="310896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20116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D4AF37"/>
                </a:solidFill>
              </a:defRPr>
            </a:pPr>
            <a:r>
              <a:t>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4688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4AF37"/>
                </a:solidFill>
              </a:defRPr>
            </a:pPr>
            <a:r>
              <a:t>40代女性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760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8080"/>
                </a:solidFill>
              </a:defRPr>
            </a:pPr>
            <a:r>
              <a:t>※個人の感想です。効果には個人差があります。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消費しながら収益を生む仕組み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600" b="1">
                <a:solidFill>
                  <a:srgbClr val="0D1B2A"/>
                </a:solidFill>
              </a:defRPr>
            </a:pPr>
            <a: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2148840"/>
            <a:ext cx="7315200" cy="100584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0" y="2103120"/>
            <a:ext cx="7315200" cy="100584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400">
                <a:solidFill>
                  <a:srgbClr val="E8E8E8"/>
                </a:solidFill>
              </a:defRPr>
            </a:pPr>
            <a:r>
              <a:t>自分で使う → 健康を実感する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103120"/>
            <a:ext cx="73152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5760720" y="3154680"/>
            <a:ext cx="365760" cy="274320"/>
          </a:xfrm>
          <a:prstGeom prst="chevron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36118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600" b="1">
                <a:solidFill>
                  <a:srgbClr val="0D1B2A"/>
                </a:solidFill>
              </a:defRPr>
            </a:pPr>
            <a: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3520440"/>
            <a:ext cx="7315200" cy="100584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3474720"/>
            <a:ext cx="7315200" cy="100584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400">
                <a:solidFill>
                  <a:srgbClr val="E8E8E8"/>
                </a:solidFill>
              </a:defRPr>
            </a:pPr>
            <a:r>
              <a:t>良さを伝える → 共感が広がる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474720"/>
            <a:ext cx="73152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5760720" y="4526280"/>
            <a:ext cx="365760" cy="274320"/>
          </a:xfrm>
          <a:prstGeom prst="chevron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28800" y="49834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defRPr sz="1600" b="1">
                <a:solidFill>
                  <a:srgbClr val="0D1B2A"/>
                </a:solidFill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4892040"/>
            <a:ext cx="7315200" cy="100584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4846320"/>
            <a:ext cx="7315200" cy="100584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400">
                <a:solidFill>
                  <a:srgbClr val="E8E8E8"/>
                </a:solidFill>
              </a:defRPr>
            </a:pPr>
            <a:r>
              <a:t>チームで広がる → 収益が生まれる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4846320"/>
            <a:ext cx="73152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7つの報酬プラン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8686800" cy="548640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691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691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リテールプロフィット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31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3317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パーソナルボーナス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2926080"/>
            <a:ext cx="8686800" cy="548640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2971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2971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チームボーナス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リーダーシップボーナス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206240"/>
            <a:ext cx="8686800" cy="548640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4251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グローバルプールボーナス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892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トラベルファンド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5486400"/>
            <a:ext cx="8686800" cy="548640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1680" y="5532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7.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5532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カーファンド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9436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8080"/>
                </a:solidFill>
              </a:defRPr>
            </a:pPr>
            <a:r>
              <a:t>※詳細は紹介者にお問い合わせください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収入シミュレーション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2057400"/>
            <a:ext cx="2926080" cy="274320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011680"/>
            <a:ext cx="2926080" cy="274320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29260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8E8E8"/>
                </a:solidFill>
              </a:defRPr>
            </a:pPr>
            <a:r>
              <a:t>3人に紹介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1089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D4AF37"/>
                </a:solidFill>
              </a:defRPr>
            </a:pPr>
            <a:r>
              <a:t>月5〜10万円</a:t>
            </a:r>
          </a:p>
        </p:txBody>
      </p:sp>
      <p:sp>
        <p:nvSpPr>
          <p:cNvPr id="12" name="Chevron 11"/>
          <p:cNvSpPr/>
          <p:nvPr/>
        </p:nvSpPr>
        <p:spPr>
          <a:xfrm>
            <a:off x="4343400" y="3108960"/>
            <a:ext cx="320040" cy="457200"/>
          </a:xfrm>
          <a:prstGeom prst="chevron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2057400"/>
            <a:ext cx="2926080" cy="274320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60" y="2011680"/>
            <a:ext cx="2926080" cy="274320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937760" y="2011680"/>
            <a:ext cx="29260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8E8E8"/>
                </a:solidFill>
              </a:defRPr>
            </a:pPr>
            <a:r>
              <a:t>9人のチーム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1089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D4AF37"/>
                </a:solidFill>
              </a:defRPr>
            </a:pPr>
            <a:r>
              <a:t>月20〜50万円</a:t>
            </a:r>
          </a:p>
        </p:txBody>
      </p:sp>
      <p:sp>
        <p:nvSpPr>
          <p:cNvPr id="18" name="Chevron 17"/>
          <p:cNvSpPr/>
          <p:nvPr/>
        </p:nvSpPr>
        <p:spPr>
          <a:xfrm>
            <a:off x="7909560" y="3108960"/>
            <a:ext cx="320040" cy="457200"/>
          </a:xfrm>
          <a:prstGeom prst="chevron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49640" y="2057400"/>
            <a:ext cx="2926080" cy="274320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3920" y="2011680"/>
            <a:ext cx="2926080" cy="274320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8503920" y="2011680"/>
            <a:ext cx="292608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0" y="23774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E8E8E8"/>
                </a:solidFill>
              </a:defRPr>
            </a:pPr>
            <a:r>
              <a:t>27人の組織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10896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D4AF37"/>
                </a:solidFill>
              </a:defRPr>
            </a:pPr>
            <a:r>
              <a:t>月100万円以上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7607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8080"/>
                </a:solidFill>
              </a:defRPr>
            </a:pPr>
            <a:r>
              <a:t>※シミュレーション例です。収入を保証するものではありません。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成功者の軌跡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0" y="1828800"/>
            <a:ext cx="25400" cy="4114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423160" y="2103120"/>
            <a:ext cx="320040" cy="3200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011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1ヶ月目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0116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製品を体感、3人に紹介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3108960"/>
            <a:ext cx="320040" cy="3200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3ヶ月目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チーム9人、月収30万円達成</a:t>
            </a:r>
          </a:p>
        </p:txBody>
      </p:sp>
      <p:sp>
        <p:nvSpPr>
          <p:cNvPr id="14" name="Oval 13"/>
          <p:cNvSpPr/>
          <p:nvPr/>
        </p:nvSpPr>
        <p:spPr>
          <a:xfrm>
            <a:off x="2423160" y="4114800"/>
            <a:ext cx="320040" cy="3200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40233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6ヶ月目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023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組織拡大、月収100万円突破</a:t>
            </a:r>
          </a:p>
        </p:txBody>
      </p:sp>
      <p:sp>
        <p:nvSpPr>
          <p:cNvPr id="17" name="Oval 16"/>
          <p:cNvSpPr/>
          <p:nvPr/>
        </p:nvSpPr>
        <p:spPr>
          <a:xfrm>
            <a:off x="2423160" y="5120640"/>
            <a:ext cx="320040" cy="32004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</a:defRPr>
            </a:pPr>
            <a:r>
              <a:t>12ヶ月目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029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8E8"/>
                </a:solidFill>
              </a:defRPr>
            </a:pPr>
            <a:r>
              <a:t>海外旅行ファンド獲得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2179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8080"/>
                </a:solidFill>
              </a:defRPr>
            </a:pPr>
            <a:r>
              <a:t>※個人の成果例です。成果には個人差があります。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なぜ「今」なのか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17320" y="2057400"/>
            <a:ext cx="3017520" cy="320040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011680"/>
            <a:ext cx="3017520" cy="320040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1371600" y="2011680"/>
            <a:ext cx="301752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286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</a:defRPr>
            </a:pPr>
            <a: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108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日本市場はまだ初期段階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</a:defRPr>
            </a:pPr>
            <a:r>
              <a:t>先行者利益が最大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2057400"/>
            <a:ext cx="3017520" cy="320040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2011680"/>
            <a:ext cx="3017520" cy="320040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846320" y="2011680"/>
            <a:ext cx="301752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2286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</a:defRPr>
            </a:pPr>
            <a:r>
              <a:t>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108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超高齢化社会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40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</a:defRPr>
            </a:pPr>
            <a:r>
              <a:t>健康需要は拡大し続ける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2057400"/>
            <a:ext cx="3017520" cy="320040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011680"/>
            <a:ext cx="3017520" cy="320040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  <a:p>
            <a:pPr algn="l">
              <a:spcAft>
                <a:spcPts val="400"/>
              </a:spcAft>
              <a:defRPr sz="1800">
                <a:solidFill>
                  <a:srgbClr val="E8E8E8"/>
                </a:solidFill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8321040" y="2011680"/>
            <a:ext cx="301752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2860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</a:defRPr>
            </a:pPr>
            <a: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1089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円安時代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4048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8E8E8"/>
                </a:solidFill>
              </a:defRPr>
            </a:pPr>
            <a:r>
              <a:t>外貨建て収入の価値が高まる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始め方は、驚くほど簡単です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56032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3600" b="1">
                <a:solidFill>
                  <a:srgbClr val="0D1B2A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E8E8"/>
                </a:solidFill>
              </a:defRPr>
            </a:pPr>
            <a:r>
              <a:t>今日、紹介者と話す</a:t>
            </a:r>
          </a:p>
        </p:txBody>
      </p:sp>
      <p:sp>
        <p:nvSpPr>
          <p:cNvPr id="9" name="Oval 8"/>
          <p:cNvSpPr/>
          <p:nvPr/>
        </p:nvSpPr>
        <p:spPr>
          <a:xfrm>
            <a:off x="5029200" y="256032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3600" b="1">
                <a:solidFill>
                  <a:srgbClr val="0D1B2A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7490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E8E8"/>
                </a:solidFill>
              </a:defRPr>
            </a:pPr>
            <a:r>
              <a:t>製品を体感する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256032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3600" b="1">
                <a:solidFill>
                  <a:srgbClr val="0D1B2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7490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E8E8"/>
                </a:solidFill>
              </a:defRPr>
            </a:pPr>
            <a:r>
              <a:t>ビジネスをスタート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457200"/>
            <a:ext cx="50800" cy="6400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457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1280160"/>
            <a:ext cx="9144000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74520" y="1691640"/>
            <a:ext cx="8686800" cy="128016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645920"/>
            <a:ext cx="8686800" cy="128016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 b="1">
                <a:solidFill>
                  <a:srgbClr val="D4AF37"/>
                </a:solidFill>
              </a:defRPr>
            </a:pPr>
            <a:r>
              <a:t>Q: 営業経験がなくても大丈夫？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A: 充実したチームサポート体制があります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645920"/>
            <a:ext cx="86868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74520" y="3246120"/>
            <a:ext cx="8686800" cy="128016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3200400"/>
            <a:ext cx="8686800" cy="128016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 b="1">
                <a:solidFill>
                  <a:srgbClr val="D4AF37"/>
                </a:solidFill>
              </a:defRPr>
            </a:pPr>
            <a:r>
              <a:t>Q: いくらから始められる？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A: 製品購入からスタート。詳細は紹介者へ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200400"/>
            <a:ext cx="86868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20" y="4800600"/>
            <a:ext cx="8686800" cy="1280160"/>
          </a:xfrm>
          <a:prstGeom prst="rect">
            <a:avLst/>
          </a:prstGeom>
          <a:solidFill>
            <a:srgbClr val="081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4754880"/>
            <a:ext cx="8686800" cy="1280160"/>
          </a:xfrm>
          <a:prstGeom prst="rect">
            <a:avLst/>
          </a:prstGeom>
          <a:solidFill>
            <a:srgbClr val="1E34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l">
              <a:spcAft>
                <a:spcPts val="400"/>
              </a:spcAft>
              <a:defRPr sz="2200" b="1">
                <a:solidFill>
                  <a:srgbClr val="D4AF37"/>
                </a:solidFill>
              </a:defRPr>
            </a:pPr>
            <a:r>
              <a:t>Q: 本業と両立できる？</a:t>
            </a:r>
          </a:p>
          <a:p>
            <a:pPr algn="l">
              <a:spcAft>
                <a:spcPts val="400"/>
              </a:spcAft>
              <a:defRPr sz="2000">
                <a:solidFill>
                  <a:srgbClr val="E8E8E8"/>
                </a:solidFill>
              </a:defRPr>
            </a:pPr>
            <a:r>
              <a:t>A: スキマ時間で取り組めます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754880"/>
            <a:ext cx="8686800" cy="381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0" y="-1828800"/>
            <a:ext cx="4572000" cy="4572000"/>
          </a:xfrm>
          <a:prstGeom prst="ellipse">
            <a:avLst/>
          </a:prstGeom>
          <a:solidFill>
            <a:srgbClr val="F0D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2286000"/>
            <a:ext cx="6705295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0" y="4572000"/>
            <a:ext cx="6705295" cy="1905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3716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あなたの人生を変える一歩は、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286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今日ここから始まります。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657600"/>
            <a:ext cx="6705295" cy="10972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D1B2A"/>
                </a:solidFill>
              </a:defRPr>
            </a:pPr>
            <a:r>
              <a:t>今すぐ、紹介者にご連絡ください。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08080"/>
                </a:solidFill>
              </a:defRPr>
            </a:pPr>
            <a:r>
              <a:t>本日の資料に関するお問い合わせは、お近くのスタッフまで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08080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